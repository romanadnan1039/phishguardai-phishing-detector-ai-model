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</p:sldIdLst>
  <p:sldSz cx="1218882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60152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4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PhishGuard AI</a:t>
            </a:r>
          </a:p>
          <a:p>
            <a:pPr algn="l">
              <a:spcBef>
                <a:spcPts val="1000"/>
              </a:spcBef>
              <a:defRPr sz="2800">
                <a:solidFill>
                  <a:srgbClr val="F8FAFC"/>
                </a:solidFill>
                <a:latin typeface="Arial" panose="020B0604020202020204"/>
              </a:defRPr>
            </a:pPr>
            <a:r>
              <a:t>AI-Powered Phishing URL Detection System</a:t>
            </a:r>
          </a:p>
          <a:p>
            <a:pPr algn="l">
              <a:spcBef>
                <a:spcPts val="4000"/>
              </a:spcBef>
              <a:defRPr sz="1800">
                <a:solidFill>
                  <a:srgbClr val="94A3B8"/>
                </a:solidFill>
                <a:latin typeface="Arial" panose="020B0604020202020204"/>
              </a:defRPr>
            </a:pPr>
            <a:r>
              <a:t>Presented by: Shaheer Siddiqui &amp; Roman Adnan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The Problem &amp; Solution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Why PhishGuard AI is needed to counter modern phishing threats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The Rising Threat Profile: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Over 1.2 million monthly phishing attacks launched globally.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Obfuscated URLs and perfect visual mimicry fool average users.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Static blocklists suffer from high update latency.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Phishing sites often disappear within 4 hours, rendering post-incident updates obsolete.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PhishGuard AI Solution: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Multi-Layered Defense: Combines Machine Learning classifiers with protocol checkers.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Pre-flight Checker: Verifies DNS and HTTP reachability instantly.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Smart Whitelist: Subdomain-aware matching for verified root domains.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Refined Scoring: Heuristic adjustments modify ML outputs using real SSL/TLS attributes.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Dataset Details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Overview of the phishing detection dataset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Dataset Characteristics: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Dataset Source: Research corpus of phishing and legitimate domains.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Volume: 10,000 unique records.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Class Balance: Perfect 50/50 split (5,000 legitimate, 5,000 phishing).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Balanced datasets prevent classifiers from showing bias toward the majority class.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Features: 50+ numeric signals extracted from URLs and web structures.</a:t>
            </a:r>
          </a:p>
        </p:txBody>
      </p:sp>
      <p:pic>
        <p:nvPicPr>
          <p:cNvPr id="5" name="Picture 4" descr="dataset_row_counts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0" y="1645920"/>
            <a:ext cx="5760720" cy="36004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Preprocessing &amp; Feature Engineering Pipeline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Clean data ingestion pipeline used for model training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10789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0EA5E9"/>
                </a:solidFill>
              </a:defRPr>
            </a:pPr>
            <a:r>
              <a:t>1. ID Column Removal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Drops sequential database IDs to ensure decision trees do not overfit on indexing values.</a:t>
            </a:r>
          </a:p>
          <a:p>
            <a:pPr>
              <a:spcBef>
                <a:spcPts val="2000"/>
              </a:spcBef>
              <a:defRPr sz="2000" b="1">
                <a:solidFill>
                  <a:srgbClr val="0EA5E9"/>
                </a:solidFill>
              </a:defRPr>
            </a:pPr>
            <a:r>
              <a:t>2. Missing Value Resolution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Applies fillna(0) to mark absent optional variables (e.g. queries, sensitive words) safely.</a:t>
            </a:r>
          </a:p>
          <a:p>
            <a:pPr>
              <a:spcBef>
                <a:spcPts val="2000"/>
              </a:spcBef>
              <a:defRPr sz="2000" b="1">
                <a:solidFill>
                  <a:srgbClr val="0EA5E9"/>
                </a:solidFill>
              </a:defRPr>
            </a:pPr>
            <a:r>
              <a:t>3. Dropping Redundant / Unbalanced Columns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Removes columns with zero variance or threshold labels that cause data leakage.</a:t>
            </a:r>
          </a:p>
          <a:p>
            <a:pPr>
              <a:spcBef>
                <a:spcPts val="2000"/>
              </a:spcBef>
              <a:defRPr sz="2000" b="1">
                <a:solidFill>
                  <a:srgbClr val="0EA5E9"/>
                </a:solidFill>
              </a:defRPr>
            </a:pPr>
            <a:r>
              <a:t>4. StandardScaler Normalization</a:t>
            </a:r>
          </a:p>
          <a:p>
            <a:pPr>
              <a:defRPr sz="1500">
                <a:solidFill>
                  <a:srgbClr val="F8FAFC"/>
                </a:solidFill>
              </a:defRPr>
            </a:pPr>
            <a:r>
              <a:t>Scales features to zero-mean and unit-variance specifically for Logistic Regression model compatibility.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Model Comparison &amp; Evaluation Metrics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Overall performance on the held-out 20% test set (2,000 samples)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85800" y="2011680"/>
          <a:ext cx="1078992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1609344"/>
                <a:gridCol w="1609344"/>
                <a:gridCol w="1609344"/>
                <a:gridCol w="1609344"/>
                <a:gridCol w="1609344"/>
              </a:tblGrid>
              <a:tr h="457200"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EA5E9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EA5E9"/>
                          </a:solidFill>
                        </a:defRPr>
                      </a:pPr>
                      <a:r>
                        <a:t>Accuracy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EA5E9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EA5E9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EA5E9"/>
                          </a:solidFill>
                        </a:defRPr>
                      </a:pPr>
                      <a:r>
                        <a:t>F1-Score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800" b="1">
                          <a:solidFill>
                            <a:srgbClr val="0EA5E9"/>
                          </a:solidFill>
                        </a:defRPr>
                      </a:pPr>
                      <a:r>
                        <a:t>ROC-AUC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Random Forest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98.40%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98.23%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98.62%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98.42%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99.83%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Logistic Regression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93.55%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93.33%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93.97%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93.65%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>
                          <a:solidFill>
                            <a:srgbClr val="F8FAFC"/>
                          </a:solidFill>
                        </a:defRPr>
                      </a:pPr>
                      <a:r>
                        <a:t>97.93%</a:t>
                      </a:r>
                    </a:p>
                  </a:txBody>
                  <a:tcPr>
                    <a:solidFill>
                      <a:schemeClr val="accent1">
                        <a:lumMod val="75000"/>
                      </a:schemeClr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85800" y="4114800"/>
            <a:ext cx="1078992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F8FAFC"/>
                </a:solidFill>
              </a:defRPr>
            </a:pPr>
            <a:r>
              <a:t>Key Observations: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• Random Forest dominates all criteria with 98.40% Accuracy and an outstanding 99.83% ROC-AUC.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• Logistic Regression provides competitive baseline metrics (93.55% Accuracy) while requiring normalized, scaled input data.</a:t>
            </a:r>
          </a:p>
          <a:p>
            <a:pPr>
              <a:spcBef>
                <a:spcPts val="800"/>
              </a:spcBef>
              <a:defRPr sz="1500">
                <a:solidFill>
                  <a:srgbClr val="94A3B8"/>
                </a:solidFill>
              </a:defRPr>
            </a:pPr>
            <a:r>
              <a:t>• GridSearchCV optimization correctly tuned forest depth and estimator size for peak output stability.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Model Evaluation: Confusion Matrix Comparison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Analyzing True/False Predictions on the Test Set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Error Breakdown Analysis: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Confusion Matrix highlights classification errors (False Positives and False Negatives).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Random Forest shows negligible errors (only 14 false negatives and 18 false positives out of 2,000 samples).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Logistic Regression shows slightly higher dispersion, primarily due to linearly boundary limitations.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Low False Negative rates are vital for cybersecurity models to avoid letting actual phishing URLs pass through unchecked.</a:t>
            </a:r>
          </a:p>
        </p:txBody>
      </p:sp>
      <p:pic>
        <p:nvPicPr>
          <p:cNvPr id="5" name="Picture 4" descr="confusion_matrix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5943600" cy="233498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Model Evaluation: ROC Curve Comparison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Performance curve mapping True Positive vs. False Positive Rates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ROC-AUC Insights: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ROC curve indicates classifier discriminative power.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Random Forest reaches a near-perfect ROC-AUC score of 0.9983, maintaining top sensitivity at close to zero false-alarm rates.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Logistic Regression shows a strong 0.9793 score, showing robust classification stability across different threshold bounds.</a:t>
            </a:r>
          </a:p>
        </p:txBody>
      </p:sp>
      <p:pic>
        <p:nvPicPr>
          <p:cNvPr id="5" name="Picture 4" descr="roc_curv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5943600" cy="454510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Feature Importance (Random Forest)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Top predictive indicators used by the ensemble trees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45720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8FAFC"/>
                </a:solidFill>
              </a:defRPr>
            </a:pPr>
            <a:r>
              <a:t>Dominant Threat Indicators: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External hyperlink percentages (PctExtHyperlinks) score as the single most critical signal.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FrequentDomainNameMismatch indicates spoofing attempts where target link domains do not match corporate identity metadata.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• Numeric counts and special characters in hostnames serve as strong secondary features.</a:t>
            </a:r>
          </a:p>
        </p:txBody>
      </p:sp>
      <p:pic>
        <p:nvPicPr>
          <p:cNvPr id="5" name="Picture 4" descr="feature_importanc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0" y="1645920"/>
            <a:ext cx="5943600" cy="3782291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Hybrid Security Pipeline &amp; Score Adjuster Heuristics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Enhancing ML predictions with real-time protocol verification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Real-Time SSL/TLS Inspection: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Verifies CA authority trust status and expiration ranges.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Inspects Subject Alternative Names (SAN) mapping hostnames.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Flags insecure protocol suites (TLS 1.0, TLS 1.1) with penalties.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Performs HTTP-to-HTTPS redirect audits during existence pre-check.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Heuristic Scoring Rules: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No SSL Certificate present: Adds 15% to ML Phishing score.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Self-Signed Cert / Domain Mismatch: Adds 12% to 15% penalty.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Valid SSL from Trusted CA: Grants a 5% safety bonus.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Full Security Headers (HSTS, CSP, X-Frame): Grants a 5% bonus.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Final probability score is clamped cleanly between 0.0 and 1.0.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85800" y="36576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Conclusion &amp; Future Scope</a:t>
            </a:r>
          </a:p>
          <a:p>
            <a:pPr>
              <a:spcBef>
                <a:spcPts val="500"/>
              </a:spcBef>
              <a:defRPr sz="1600">
                <a:solidFill>
                  <a:srgbClr val="94A3B8"/>
                </a:solidFill>
                <a:latin typeface="Arial" panose="020B0604020202020204"/>
              </a:defRPr>
            </a:pPr>
            <a:r>
              <a:t>Project accomplishments and future scalability goals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0EA5E9"/>
                </a:solidFill>
              </a:defRPr>
            </a:pPr>
            <a:r>
              <a:t>Key Accomplishments: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Achieved 98.40% classification accuracy on test sets using optimized Random Forest models.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Engineered a robust feature set mapping structural, statistical, and behavior-level URL signals.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Pioneered a layered validator resolving DNS/HTTP existence and whitelists to save classifier resources.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Integrated a real-time SSL/TLS socket inspector to check certificate integrity.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217920" y="16459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</a:defRPr>
            </a:pPr>
            <a:r>
              <a:t>Future Roadmap: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Client Browser Extension: Direct URL verification inside Chrome/Firefox extensions.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Headless DOM Rendering: Use Playwright to capture elements loaded dynamically by JS.</a:t>
            </a:r>
          </a:p>
          <a:p>
            <a:pPr>
              <a:spcBef>
                <a:spcPts val="1400"/>
              </a:spcBef>
              <a:defRPr sz="1600">
                <a:solidFill>
                  <a:srgbClr val="F8FAFC"/>
                </a:solidFill>
              </a:defRPr>
            </a:pPr>
            <a:r>
              <a:t>• Online Active Retraining: Model fine-tuning using active feedback and telemetry reports.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0152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0EA5E9"/>
                </a:solidFill>
                <a:latin typeface="Trebuchet MS" panose="020B0603020202020204"/>
              </a:defRPr>
            </a:pPr>
            <a:r>
              <a:t>Thank You!</a:t>
            </a:r>
          </a:p>
          <a:p>
            <a:pPr algn="ctr">
              <a:spcBef>
                <a:spcPts val="2000"/>
              </a:spcBef>
              <a:defRPr sz="2800">
                <a:solidFill>
                  <a:srgbClr val="F8FAFC"/>
                </a:solidFill>
                <a:latin typeface="Arial" panose="020B0604020202020204"/>
              </a:defRPr>
            </a:pPr>
            <a:r>
              <a:t>Questions &amp; Discussion</a:t>
            </a:r>
          </a:p>
          <a:p>
            <a:pPr algn="ctr">
              <a:spcBef>
                <a:spcPts val="4000"/>
              </a:spcBef>
              <a:defRPr sz="1800">
                <a:solidFill>
                  <a:srgbClr val="94A3B8"/>
                </a:solidFill>
                <a:latin typeface="Arial" panose="020B0604020202020204"/>
              </a:defRPr>
            </a:pPr>
            <a:r>
              <a:t>PhishGuard AI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5286</Words>
  <Application>WPS Presentation</Application>
  <PresentationFormat>On-screen Show (4:3)</PresentationFormat>
  <Paragraphs>144</Paragraphs>
  <Slides>11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11</vt:i4>
      </vt:variant>
    </vt:vector>
  </HeadingPairs>
  <TitlesOfParts>
    <vt:vector size="20" baseType="lpstr">
      <vt:lpstr>Arial</vt:lpstr>
      <vt:lpstr>SimSun</vt:lpstr>
      <vt:lpstr>Wingdings</vt:lpstr>
      <vt:lpstr>Arial</vt:lpstr>
      <vt:lpstr>Trebuchet MS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PMYLS</cp:lastModifiedBy>
  <cp:revision>2</cp:revision>
  <dcterms:created xsi:type="dcterms:W3CDTF">2013-01-27T09:14:00Z</dcterms:created>
  <dcterms:modified xsi:type="dcterms:W3CDTF">2026-06-06T06:16:38Z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1DFA17B98B7341D88FB907536D6AA8B2_12</vt:lpwstr>
  </property>
  <property fmtid="{D5CDD505-2E9C-101B-9397-08002B2CF9AE}" pid="3" name="KSOProductBuildVer">
    <vt:lpwstr>1033-12.2.0.19307</vt:lpwstr>
  </property>
</Properties>
</file>